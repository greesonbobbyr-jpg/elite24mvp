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same player image is preserved from upload through the finished card.</a:t>
            </a:r>
          </a:p>
          <a:p>
            <a:r>
              <a:t>The card becomes a persistent identity layer around the athlete—not a one-off graphic.</a:t>
            </a:r>
          </a:p>
          <a:p>
            <a:r>
              <a:t>[Sources]</a:t>
            </a:r>
          </a:p>
          <a:p>
            <a:r>
              <a:t>- C:/Users/arrow/AppData/Local/Temp/codex-clipboard-8d94679c-de23-4e0b-9f5d-7bba88cb911b.png</a:t>
            </a:r>
          </a:p>
          <a:p>
            <a:r>
              <a:t>- C:/Users/arrow/.codex/worktrees/1edd/elite24mvp/public/card/proofs/cason-wallace-local-cutout-v1.png</a:t>
            </a:r>
          </a:p>
          <a:p>
            <a:r>
              <a:t>- C:/Users/arrow/.codex/worktrees/1edd/elite24mvp/public/card/proofs/cason-wallace-platinum-proof-v1.png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production card is composed from reusable layers: environment, player number, normalized cutout, live data and finish treatment.</a:t>
            </a:r>
          </a:p>
          <a:p>
            <a:r>
              <a:t>Every level remains a Prospect card. Bronze through Diamond describe the finish—not the tier name.</a:t>
            </a:r>
          </a:p>
          <a:p>
            <a:r>
              <a:t>[Sources]</a:t>
            </a:r>
          </a:p>
          <a:p>
            <a:r>
              <a:t>- C:/Users/arrow/.codex/worktrees/1edd/elite24mvp/public/card/platinum-environment-v2-no-plaque.png</a:t>
            </a:r>
          </a:p>
          <a:p>
            <a:r>
              <a:t>- C:/Users/arrow/.codex/worktrees/1edd/elite24mvp/public/card/proofs/cason-wallace-local-cutout-v1.png</a:t>
            </a:r>
          </a:p>
          <a:p>
            <a:r>
              <a:t>- C:/Users/arrow/.codex/worktrees/1edd/elite24mvp/public/card/proofs/cason-wallace-platinum-proof-v1.png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/>
          <p:cNvPicPr>
            <a:picLocks noChangeAspect="1"/>
          </p:cNvPicPr>
          <p:nvPr/>
        </p:nvPicPr>
        <p:blipFill>
          <a:blip r:embed="rId3"/>
          <a:srcRect t="31250" b="3125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rk-wash">
            <a:extLst>
              <a:ext uri="{FF2B5EF4-FFF2-40B4-BE49-F238E27FC236}">
                <a16:creationId xmlns:a16="http://schemas.microsoft.com/office/drawing/2014/main" id="{38A82B37-27B7-4D72-A194-F57682A2439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2070D">
              <a:alpha val="89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left-shadow">
            <a:extLst>
              <a:ext uri="{FF2B5EF4-FFF2-40B4-BE49-F238E27FC236}">
                <a16:creationId xmlns:a16="http://schemas.microsoft.com/office/drawing/2014/main" id="{2777560C-0887-43FF-8F82-85D08329398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7429500" cy="6858000"/>
          </a:xfrm>
          <a:prstGeom prst="rect">
            <a:avLst/>
          </a:prstGeom>
          <a:solidFill>
            <a:srgbClr val="03080F">
              <a:alpha val="72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op-cyan">
            <a:extLst>
              <a:ext uri="{FF2B5EF4-FFF2-40B4-BE49-F238E27FC236}">
                <a16:creationId xmlns:a16="http://schemas.microsoft.com/office/drawing/2014/main" id="{5ADF0E0A-CC33-4EDB-8702-49520C46078B}"/>
              </a:ext>
            </a:extLst>
          </p:cNvPr>
          <p:cNvSpPr>
            <a:spLocks noGrp="1"/>
          </p:cNvSpPr>
          <p:nvPr/>
        </p:nvSpPr>
        <p:spPr>
          <a:xfrm>
            <a:off x="514350" y="428625"/>
            <a:ext cx="666750" cy="47625"/>
          </a:xfrm>
          <a:prstGeom prst="rect">
            <a:avLst/>
          </a:prstGeom>
          <a:solidFill>
            <a:srgbClr val="35DF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op-silver">
            <a:extLst>
              <a:ext uri="{FF2B5EF4-FFF2-40B4-BE49-F238E27FC236}">
                <a16:creationId xmlns:a16="http://schemas.microsoft.com/office/drawing/2014/main" id="{07343A62-EC70-4BD3-8E35-553BD5218737}"/>
              </a:ext>
            </a:extLst>
          </p:cNvPr>
          <p:cNvSpPr>
            <a:spLocks noGrp="1"/>
          </p:cNvSpPr>
          <p:nvPr/>
        </p:nvSpPr>
        <p:spPr>
          <a:xfrm>
            <a:off x="1181100" y="428625"/>
            <a:ext cx="876300" cy="47625"/>
          </a:xfrm>
          <a:prstGeom prst="rect">
            <a:avLst/>
          </a:prstGeom>
          <a:solidFill>
            <a:srgbClr val="DDF4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brand">
            <a:extLst>
              <a:ext uri="{FF2B5EF4-FFF2-40B4-BE49-F238E27FC236}">
                <a16:creationId xmlns:a16="http://schemas.microsoft.com/office/drawing/2014/main" id="{66117B43-BD24-4F44-B501-CFBF4277DAE7}"/>
              </a:ext>
            </a:extLst>
          </p:cNvPr>
          <p:cNvSpPr>
            <a:spLocks noGrp="1"/>
          </p:cNvSpPr>
          <p:nvPr/>
        </p:nvSpPr>
        <p:spPr>
          <a:xfrm>
            <a:off x="514350" y="590550"/>
            <a:ext cx="3429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 spc="1">
                <a:solidFill>
                  <a:srgbClr val="72E8FF"/>
                </a:solidFill>
              </a:defRPr>
            </a:pPr>
            <a:r>
              <a:rPr sz="1125" b="1" spc="1">
                <a:solidFill>
                  <a:srgbClr val="72E8FF"/>
                </a:solidFill>
              </a:rPr>
              <a:t>ELITE24MVP  /  PLAYER CARDS</a:t>
            </a:r>
          </a:p>
        </p:txBody>
      </p:sp>
      <p:sp>
        <p:nvSpPr>
          <p:cNvPr id="7" name="page">
            <a:extLst>
              <a:ext uri="{FF2B5EF4-FFF2-40B4-BE49-F238E27FC236}">
                <a16:creationId xmlns:a16="http://schemas.microsoft.com/office/drawing/2014/main" id="{0A45732F-CD26-44F7-AC12-3D05116F7D8F}"/>
              </a:ext>
            </a:extLst>
          </p:cNvPr>
          <p:cNvSpPr>
            <a:spLocks noGrp="1"/>
          </p:cNvSpPr>
          <p:nvPr/>
        </p:nvSpPr>
        <p:spPr>
          <a:xfrm>
            <a:off x="11525250" y="6486525"/>
            <a:ext cx="3048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>
                <a:solidFill>
                  <a:srgbClr val="7890A3"/>
                </a:solidFill>
              </a:defRPr>
            </a:pPr>
            <a:r>
              <a:rPr sz="900">
                <a:solidFill>
                  <a:srgbClr val="7890A3"/>
                </a:solidFill>
              </a:rPr>
              <a:t>01</a:t>
            </a:r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64E1754E-0539-467A-8B9E-1168A0869FFA}"/>
              </a:ext>
            </a:extLst>
          </p:cNvPr>
          <p:cNvSpPr>
            <a:spLocks noGrp="1"/>
          </p:cNvSpPr>
          <p:nvPr/>
        </p:nvSpPr>
        <p:spPr>
          <a:xfrm>
            <a:off x="514350" y="1066800"/>
            <a:ext cx="495300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4125" b="1">
                <a:solidFill>
                  <a:srgbClr val="FFFFFF"/>
                </a:solidFill>
              </a:defRPr>
            </a:pPr>
            <a:r>
              <a:rPr sz="4125" b="1">
                <a:solidFill>
                  <a:srgbClr val="FFFFFF"/>
                </a:solidFill>
              </a:rPr>
              <a:t>YOUR PHOTO.</a:t>
            </a:r>
          </a:p>
          <a:p>
            <a:pPr>
              <a:defRPr sz="4125" b="1">
                <a:solidFill>
                  <a:srgbClr val="FFFFFF"/>
                </a:solidFill>
              </a:defRPr>
            </a:pPr>
            <a:r>
              <a:rPr sz="4125" b="1">
                <a:solidFill>
                  <a:srgbClr val="FFFFFF"/>
                </a:solidFill>
              </a:rPr>
              <a:t>YOUR CARD.</a:t>
            </a:r>
          </a:p>
          <a:p>
            <a:pPr>
              <a:defRPr sz="4125" b="1">
                <a:solidFill>
                  <a:srgbClr val="FFFFFF"/>
                </a:solidFill>
              </a:defRPr>
            </a:pPr>
            <a:r>
              <a:rPr sz="4125" b="1">
                <a:solidFill>
                  <a:srgbClr val="FFFFFF"/>
                </a:solidFill>
              </a:rPr>
              <a:t>YOUR LEGACY.</a:t>
            </a:r>
          </a:p>
        </p:txBody>
      </p:sp>
      <p:sp>
        <p:nvSpPr>
          <p:cNvPr id="9" name="subtitle">
            <a:extLst>
              <a:ext uri="{FF2B5EF4-FFF2-40B4-BE49-F238E27FC236}">
                <a16:creationId xmlns:a16="http://schemas.microsoft.com/office/drawing/2014/main" id="{BF35B4B5-3234-4A78-8964-7C614D19BE01}"/>
              </a:ext>
            </a:extLst>
          </p:cNvPr>
          <p:cNvSpPr>
            <a:spLocks noGrp="1"/>
          </p:cNvSpPr>
          <p:nvPr/>
        </p:nvSpPr>
        <p:spPr>
          <a:xfrm>
            <a:off x="552450" y="2933700"/>
            <a:ext cx="452437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>
                <a:solidFill>
                  <a:srgbClr val="B9C9D7"/>
                </a:solidFill>
              </a:defRPr>
            </a:pPr>
            <a:r>
              <a:rPr sz="1500">
                <a:solidFill>
                  <a:srgbClr val="B9C9D7"/>
                </a:solidFill>
              </a:rPr>
              <a:t>Upload once. Step into a card that tracks the player, the team and every level earned.</a:t>
            </a:r>
          </a:p>
        </p:txBody>
      </p:sp>
      <p:sp>
        <p:nvSpPr>
          <p:cNvPr id="10" name="photo-glow">
            <a:extLst>
              <a:ext uri="{FF2B5EF4-FFF2-40B4-BE49-F238E27FC236}">
                <a16:creationId xmlns:a16="http://schemas.microsoft.com/office/drawing/2014/main" id="{3AC3102D-0F9C-458A-B882-283A859652AC}"/>
              </a:ext>
            </a:extLst>
          </p:cNvPr>
          <p:cNvSpPr>
            <a:spLocks noGrp="1"/>
          </p:cNvSpPr>
          <p:nvPr/>
        </p:nvSpPr>
        <p:spPr>
          <a:xfrm>
            <a:off x="609600" y="3819525"/>
            <a:ext cx="2609850" cy="1733550"/>
          </a:xfrm>
          <a:prstGeom prst="ellipse">
            <a:avLst/>
          </a:prstGeom>
          <a:solidFill>
            <a:srgbClr val="2ABEFF">
              <a:alpha val="16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6" name="Picture 35"/>
          <p:cNvPicPr>
            <a:picLocks noChangeAspect="1"/>
          </p:cNvPicPr>
          <p:nvPr/>
        </p:nvPicPr>
        <p:blipFill>
          <a:blip r:embed="rId4"/>
          <a:srcRect t="24" b="24"/>
          <a:stretch>
            <a:fillRect/>
          </a:stretch>
        </p:blipFill>
        <p:spPr>
          <a:xfrm>
            <a:off x="685800" y="3905250"/>
            <a:ext cx="2457450" cy="1638300"/>
          </a:xfrm>
          <a:prstGeom prst="roundRect">
            <a:avLst>
              <a:gd name="adj" fmla="val 6977"/>
            </a:avLst>
          </a:prstGeom>
        </p:spPr>
      </p:pic>
      <p:sp>
        <p:nvSpPr>
          <p:cNvPr id="12" name="photo-edge">
            <a:extLst>
              <a:ext uri="{FF2B5EF4-FFF2-40B4-BE49-F238E27FC236}">
                <a16:creationId xmlns:a16="http://schemas.microsoft.com/office/drawing/2014/main" id="{E97E73D4-D197-4C30-9286-40C939B644F2}"/>
              </a:ext>
            </a:extLst>
          </p:cNvPr>
          <p:cNvSpPr>
            <a:spLocks noGrp="1"/>
          </p:cNvSpPr>
          <p:nvPr/>
        </p:nvSpPr>
        <p:spPr>
          <a:xfrm>
            <a:off x="685800" y="3905250"/>
            <a:ext cx="2457450" cy="1638300"/>
          </a:xfrm>
          <a:prstGeom prst="roundRect">
            <a:avLst>
              <a:gd name="adj" fmla="val 6977"/>
            </a:avLst>
          </a:prstGeom>
          <a:solidFill>
            <a:srgbClr val="000000">
              <a:alpha val="0"/>
            </a:srgbClr>
          </a:solidFill>
          <a:ln w="9525">
            <a:solidFill>
              <a:srgbClr val="69E7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tep-1-num">
            <a:extLst>
              <a:ext uri="{FF2B5EF4-FFF2-40B4-BE49-F238E27FC236}">
                <a16:creationId xmlns:a16="http://schemas.microsoft.com/office/drawing/2014/main" id="{F215CBFB-7B8F-4570-8CDD-3B67B8DAAED6}"/>
              </a:ext>
            </a:extLst>
          </p:cNvPr>
          <p:cNvSpPr>
            <a:spLocks noGrp="1"/>
          </p:cNvSpPr>
          <p:nvPr/>
        </p:nvSpPr>
        <p:spPr>
          <a:xfrm>
            <a:off x="685800" y="5715000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34DBFF"/>
                </a:solidFill>
              </a:defRPr>
            </a:pPr>
            <a:r>
              <a:rPr sz="1275" b="1">
                <a:solidFill>
                  <a:srgbClr val="34DBFF"/>
                </a:solidFill>
              </a:rPr>
              <a:t>01</a:t>
            </a:r>
          </a:p>
        </p:txBody>
      </p:sp>
      <p:sp>
        <p:nvSpPr>
          <p:cNvPr id="14" name="step-1-label">
            <a:extLst>
              <a:ext uri="{FF2B5EF4-FFF2-40B4-BE49-F238E27FC236}">
                <a16:creationId xmlns:a16="http://schemas.microsoft.com/office/drawing/2014/main" id="{BBE0FF18-1B9B-47C5-9325-AA6B08CE85B6}"/>
              </a:ext>
            </a:extLst>
          </p:cNvPr>
          <p:cNvSpPr>
            <a:spLocks noGrp="1"/>
          </p:cNvSpPr>
          <p:nvPr/>
        </p:nvSpPr>
        <p:spPr>
          <a:xfrm>
            <a:off x="1143000" y="5715000"/>
            <a:ext cx="1257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 spc="1">
                <a:solidFill>
                  <a:srgbClr val="FFFFFF"/>
                </a:solidFill>
              </a:defRPr>
            </a:pPr>
            <a:r>
              <a:rPr sz="1275" b="1" spc="1">
                <a:solidFill>
                  <a:srgbClr val="FFFFFF"/>
                </a:solidFill>
              </a:rPr>
              <a:t>UPLOAD</a:t>
            </a:r>
          </a:p>
        </p:txBody>
      </p:sp>
      <p:sp>
        <p:nvSpPr>
          <p:cNvPr id="15" name="arrow-one">
            <a:extLst>
              <a:ext uri="{FF2B5EF4-FFF2-40B4-BE49-F238E27FC236}">
                <a16:creationId xmlns:a16="http://schemas.microsoft.com/office/drawing/2014/main" id="{44CBA096-BC2B-48DC-9D1B-B46456B4BFBE}"/>
              </a:ext>
            </a:extLst>
          </p:cNvPr>
          <p:cNvSpPr>
            <a:spLocks noGrp="1"/>
          </p:cNvSpPr>
          <p:nvPr/>
        </p:nvSpPr>
        <p:spPr>
          <a:xfrm>
            <a:off x="3248025" y="4457700"/>
            <a:ext cx="5143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150" b="1">
                <a:solidFill>
                  <a:srgbClr val="3BE0FF"/>
                </a:solidFill>
              </a:defRPr>
            </a:pPr>
            <a:r>
              <a:rPr sz="3150" b="1">
                <a:solidFill>
                  <a:srgbClr val="3BE0FF"/>
                </a:solidFill>
              </a:rPr>
              <a:t>→</a:t>
            </a:r>
          </a:p>
        </p:txBody>
      </p:sp>
      <p:sp>
        <p:nvSpPr>
          <p:cNvPr id="16" name="cutout-glow">
            <a:extLst>
              <a:ext uri="{FF2B5EF4-FFF2-40B4-BE49-F238E27FC236}">
                <a16:creationId xmlns:a16="http://schemas.microsoft.com/office/drawing/2014/main" id="{E9316CEF-A04F-49AB-B4BE-F3E20E7CCCBA}"/>
              </a:ext>
            </a:extLst>
          </p:cNvPr>
          <p:cNvSpPr>
            <a:spLocks noGrp="1"/>
          </p:cNvSpPr>
          <p:nvPr/>
        </p:nvSpPr>
        <p:spPr>
          <a:xfrm>
            <a:off x="3838575" y="3590925"/>
            <a:ext cx="2247900" cy="2247900"/>
          </a:xfrm>
          <a:prstGeom prst="ellipse">
            <a:avLst/>
          </a:prstGeom>
          <a:solidFill>
            <a:srgbClr val="2ABEFF">
              <a:alpha val="20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2" name="Picture 41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3981450" y="3725045"/>
            <a:ext cx="1962150" cy="1922511"/>
          </a:xfrm>
          <a:prstGeom prst="rect">
            <a:avLst/>
          </a:prstGeom>
        </p:spPr>
      </p:pic>
      <p:sp>
        <p:nvSpPr>
          <p:cNvPr id="18" name="step-2-num">
            <a:extLst>
              <a:ext uri="{FF2B5EF4-FFF2-40B4-BE49-F238E27FC236}">
                <a16:creationId xmlns:a16="http://schemas.microsoft.com/office/drawing/2014/main" id="{C6AD6E80-9520-4D25-92BC-7210622CF229}"/>
              </a:ext>
            </a:extLst>
          </p:cNvPr>
          <p:cNvSpPr>
            <a:spLocks noGrp="1"/>
          </p:cNvSpPr>
          <p:nvPr/>
        </p:nvSpPr>
        <p:spPr>
          <a:xfrm>
            <a:off x="4095750" y="5715000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34DBFF"/>
                </a:solidFill>
              </a:defRPr>
            </a:pPr>
            <a:r>
              <a:rPr sz="1275" b="1">
                <a:solidFill>
                  <a:srgbClr val="34DBFF"/>
                </a:solidFill>
              </a:rPr>
              <a:t>02</a:t>
            </a:r>
          </a:p>
        </p:txBody>
      </p:sp>
      <p:sp>
        <p:nvSpPr>
          <p:cNvPr id="19" name="step-2-label">
            <a:extLst>
              <a:ext uri="{FF2B5EF4-FFF2-40B4-BE49-F238E27FC236}">
                <a16:creationId xmlns:a16="http://schemas.microsoft.com/office/drawing/2014/main" id="{CF31CA58-68BB-47C6-9721-8409422BA84A}"/>
              </a:ext>
            </a:extLst>
          </p:cNvPr>
          <p:cNvSpPr>
            <a:spLocks noGrp="1"/>
          </p:cNvSpPr>
          <p:nvPr/>
        </p:nvSpPr>
        <p:spPr>
          <a:xfrm>
            <a:off x="4552950" y="5715000"/>
            <a:ext cx="1257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 spc="1">
                <a:solidFill>
                  <a:srgbClr val="FFFFFF"/>
                </a:solidFill>
              </a:defRPr>
            </a:pPr>
            <a:r>
              <a:rPr sz="1275" b="1" spc="1">
                <a:solidFill>
                  <a:srgbClr val="FFFFFF"/>
                </a:solidFill>
              </a:rPr>
              <a:t>CUTOUT</a:t>
            </a:r>
          </a:p>
        </p:txBody>
      </p:sp>
      <p:sp>
        <p:nvSpPr>
          <p:cNvPr id="20" name="arrow-two">
            <a:extLst>
              <a:ext uri="{FF2B5EF4-FFF2-40B4-BE49-F238E27FC236}">
                <a16:creationId xmlns:a16="http://schemas.microsoft.com/office/drawing/2014/main" id="{2511C307-5950-49DB-8238-E475984DF08D}"/>
              </a:ext>
            </a:extLst>
          </p:cNvPr>
          <p:cNvSpPr>
            <a:spLocks noGrp="1"/>
          </p:cNvSpPr>
          <p:nvPr/>
        </p:nvSpPr>
        <p:spPr>
          <a:xfrm>
            <a:off x="6057900" y="4457700"/>
            <a:ext cx="5143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150" b="1">
                <a:solidFill>
                  <a:srgbClr val="3BE0FF"/>
                </a:solidFill>
              </a:defRPr>
            </a:pPr>
            <a:r>
              <a:rPr sz="3150" b="1">
                <a:solidFill>
                  <a:srgbClr val="3BE0FF"/>
                </a:solidFill>
              </a:rPr>
              <a:t>→</a:t>
            </a:r>
          </a:p>
        </p:txBody>
      </p:sp>
      <p:sp>
        <p:nvSpPr>
          <p:cNvPr id="21" name="hero-stars">
            <a:extLst>
              <a:ext uri="{FF2B5EF4-FFF2-40B4-BE49-F238E27FC236}">
                <a16:creationId xmlns:a16="http://schemas.microsoft.com/office/drawing/2014/main" id="{7449719C-A034-4DC6-8833-B6C999E34833}"/>
              </a:ext>
            </a:extLst>
          </p:cNvPr>
          <p:cNvSpPr>
            <a:spLocks noGrp="1"/>
          </p:cNvSpPr>
          <p:nvPr/>
        </p:nvSpPr>
        <p:spPr>
          <a:xfrm>
            <a:off x="8096250" y="238125"/>
            <a:ext cx="2476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1" spc="2">
                <a:solidFill>
                  <a:srgbClr val="DDF8FF"/>
                </a:solidFill>
              </a:defRPr>
            </a:pPr>
            <a:r>
              <a:rPr sz="1425" b="1" spc="2">
                <a:solidFill>
                  <a:srgbClr val="DDF8FF"/>
                </a:solidFill>
              </a:rPr>
              <a:t>★★★★</a:t>
            </a:r>
          </a:p>
        </p:txBody>
      </p:sp>
      <p:sp>
        <p:nvSpPr>
          <p:cNvPr id="22" name="final-label">
            <a:extLst>
              <a:ext uri="{FF2B5EF4-FFF2-40B4-BE49-F238E27FC236}">
                <a16:creationId xmlns:a16="http://schemas.microsoft.com/office/drawing/2014/main" id="{929066CB-3704-4514-A25D-601734AA6B25}"/>
              </a:ext>
            </a:extLst>
          </p:cNvPr>
          <p:cNvSpPr>
            <a:spLocks noGrp="1"/>
          </p:cNvSpPr>
          <p:nvPr/>
        </p:nvSpPr>
        <p:spPr>
          <a:xfrm>
            <a:off x="8096250" y="447675"/>
            <a:ext cx="2476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 spc="1">
                <a:solidFill>
                  <a:srgbClr val="91EDFF"/>
                </a:solidFill>
              </a:defRPr>
            </a:pPr>
            <a:r>
              <a:rPr sz="1575" b="1" spc="1">
                <a:solidFill>
                  <a:srgbClr val="91EDFF"/>
                </a:solidFill>
              </a:rPr>
              <a:t>PROSPECT</a:t>
            </a:r>
          </a:p>
        </p:txBody>
      </p:sp>
      <p:sp>
        <p:nvSpPr>
          <p:cNvPr id="23" name="finish-label">
            <a:extLst>
              <a:ext uri="{FF2B5EF4-FFF2-40B4-BE49-F238E27FC236}">
                <a16:creationId xmlns:a16="http://schemas.microsoft.com/office/drawing/2014/main" id="{60B1FFAC-B4D3-4C0C-A7A7-48D577157216}"/>
              </a:ext>
            </a:extLst>
          </p:cNvPr>
          <p:cNvSpPr>
            <a:spLocks noGrp="1"/>
          </p:cNvSpPr>
          <p:nvPr/>
        </p:nvSpPr>
        <p:spPr>
          <a:xfrm>
            <a:off x="8096250" y="676275"/>
            <a:ext cx="2476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 spc="1">
                <a:solidFill>
                  <a:srgbClr val="B1C2D1"/>
                </a:solidFill>
              </a:defRPr>
            </a:pPr>
            <a:r>
              <a:rPr sz="975" b="1" spc="1">
                <a:solidFill>
                  <a:srgbClr val="B1C2D1"/>
                </a:solidFill>
              </a:rPr>
              <a:t>PLATINUM FINISH</a:t>
            </a:r>
          </a:p>
        </p:txBody>
      </p:sp>
      <p:sp>
        <p:nvSpPr>
          <p:cNvPr id="24" name="hero-glow">
            <a:extLst>
              <a:ext uri="{FF2B5EF4-FFF2-40B4-BE49-F238E27FC236}">
                <a16:creationId xmlns:a16="http://schemas.microsoft.com/office/drawing/2014/main" id="{66B83927-0953-412C-80A4-982F3DF70470}"/>
              </a:ext>
            </a:extLst>
          </p:cNvPr>
          <p:cNvSpPr>
            <a:spLocks noGrp="1"/>
          </p:cNvSpPr>
          <p:nvPr/>
        </p:nvSpPr>
        <p:spPr>
          <a:xfrm>
            <a:off x="6810375" y="1143000"/>
            <a:ext cx="4857750" cy="5381625"/>
          </a:xfrm>
          <a:prstGeom prst="ellipse">
            <a:avLst/>
          </a:prstGeom>
          <a:solidFill>
            <a:srgbClr val="1FC3FF">
              <a:alpha val="14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0" name="Picture 49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7429500" y="971550"/>
            <a:ext cx="3829050" cy="5743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77490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Picture 51"/>
          <p:cNvPicPr>
            <a:picLocks noChangeAspect="1"/>
          </p:cNvPicPr>
          <p:nvPr/>
        </p:nvPicPr>
        <p:blipFill>
          <a:blip r:embed="rId3"/>
          <a:srcRect t="31250" b="3125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rk-wash">
            <a:extLst>
              <a:ext uri="{FF2B5EF4-FFF2-40B4-BE49-F238E27FC236}">
                <a16:creationId xmlns:a16="http://schemas.microsoft.com/office/drawing/2014/main" id="{99CCAA13-738E-4413-9B4B-DB5F0162074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2070D">
              <a:alpha val="89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left-shadow">
            <a:extLst>
              <a:ext uri="{FF2B5EF4-FFF2-40B4-BE49-F238E27FC236}">
                <a16:creationId xmlns:a16="http://schemas.microsoft.com/office/drawing/2014/main" id="{FE2B9F16-B613-4643-B165-620400AB64F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7429500" cy="6858000"/>
          </a:xfrm>
          <a:prstGeom prst="rect">
            <a:avLst/>
          </a:prstGeom>
          <a:solidFill>
            <a:srgbClr val="03080F">
              <a:alpha val="72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op-cyan">
            <a:extLst>
              <a:ext uri="{FF2B5EF4-FFF2-40B4-BE49-F238E27FC236}">
                <a16:creationId xmlns:a16="http://schemas.microsoft.com/office/drawing/2014/main" id="{101863CF-7FEE-4CB1-8B29-39BA2C30B0F5}"/>
              </a:ext>
            </a:extLst>
          </p:cNvPr>
          <p:cNvSpPr>
            <a:spLocks noGrp="1"/>
          </p:cNvSpPr>
          <p:nvPr/>
        </p:nvSpPr>
        <p:spPr>
          <a:xfrm>
            <a:off x="514350" y="428625"/>
            <a:ext cx="666750" cy="47625"/>
          </a:xfrm>
          <a:prstGeom prst="rect">
            <a:avLst/>
          </a:prstGeom>
          <a:solidFill>
            <a:srgbClr val="35DF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op-silver">
            <a:extLst>
              <a:ext uri="{FF2B5EF4-FFF2-40B4-BE49-F238E27FC236}">
                <a16:creationId xmlns:a16="http://schemas.microsoft.com/office/drawing/2014/main" id="{4B871AC9-54B6-4AC9-83F0-D8F09C7EDD6A}"/>
              </a:ext>
            </a:extLst>
          </p:cNvPr>
          <p:cNvSpPr>
            <a:spLocks noGrp="1"/>
          </p:cNvSpPr>
          <p:nvPr/>
        </p:nvSpPr>
        <p:spPr>
          <a:xfrm>
            <a:off x="1181100" y="428625"/>
            <a:ext cx="876300" cy="47625"/>
          </a:xfrm>
          <a:prstGeom prst="rect">
            <a:avLst/>
          </a:prstGeom>
          <a:solidFill>
            <a:srgbClr val="DDF4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brand">
            <a:extLst>
              <a:ext uri="{FF2B5EF4-FFF2-40B4-BE49-F238E27FC236}">
                <a16:creationId xmlns:a16="http://schemas.microsoft.com/office/drawing/2014/main" id="{54D843B0-F9F1-4D14-A0C3-60E743DE0047}"/>
              </a:ext>
            </a:extLst>
          </p:cNvPr>
          <p:cNvSpPr>
            <a:spLocks noGrp="1"/>
          </p:cNvSpPr>
          <p:nvPr/>
        </p:nvSpPr>
        <p:spPr>
          <a:xfrm>
            <a:off x="514350" y="590550"/>
            <a:ext cx="3429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 spc="1">
                <a:solidFill>
                  <a:srgbClr val="72E8FF"/>
                </a:solidFill>
              </a:defRPr>
            </a:pPr>
            <a:r>
              <a:rPr sz="1125" b="1" spc="1">
                <a:solidFill>
                  <a:srgbClr val="72E8FF"/>
                </a:solidFill>
              </a:rPr>
              <a:t>ELITE24MVP  /  PLAYER CARDS</a:t>
            </a:r>
          </a:p>
        </p:txBody>
      </p:sp>
      <p:sp>
        <p:nvSpPr>
          <p:cNvPr id="7" name="page">
            <a:extLst>
              <a:ext uri="{FF2B5EF4-FFF2-40B4-BE49-F238E27FC236}">
                <a16:creationId xmlns:a16="http://schemas.microsoft.com/office/drawing/2014/main" id="{44DF583F-E76C-4D2D-9ABF-E23CD4EA9324}"/>
              </a:ext>
            </a:extLst>
          </p:cNvPr>
          <p:cNvSpPr>
            <a:spLocks noGrp="1"/>
          </p:cNvSpPr>
          <p:nvPr/>
        </p:nvSpPr>
        <p:spPr>
          <a:xfrm>
            <a:off x="11525250" y="6486525"/>
            <a:ext cx="3048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>
                <a:solidFill>
                  <a:srgbClr val="7890A3"/>
                </a:solidFill>
              </a:defRPr>
            </a:pPr>
            <a:r>
              <a:rPr sz="900">
                <a:solidFill>
                  <a:srgbClr val="7890A3"/>
                </a:solidFill>
              </a:rPr>
              <a:t>02</a:t>
            </a:r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9F569EE7-84E4-4D29-A11E-893CE83D1676}"/>
              </a:ext>
            </a:extLst>
          </p:cNvPr>
          <p:cNvSpPr>
            <a:spLocks noGrp="1"/>
          </p:cNvSpPr>
          <p:nvPr/>
        </p:nvSpPr>
        <p:spPr>
          <a:xfrm>
            <a:off x="514350" y="1000125"/>
            <a:ext cx="75247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BUILT IN LAYERS. EARNED IN LEVELS.</a:t>
            </a:r>
          </a:p>
        </p:txBody>
      </p:sp>
      <p:sp>
        <p:nvSpPr>
          <p:cNvPr id="9" name="subtitle">
            <a:extLst>
              <a:ext uri="{FF2B5EF4-FFF2-40B4-BE49-F238E27FC236}">
                <a16:creationId xmlns:a16="http://schemas.microsoft.com/office/drawing/2014/main" id="{855D0848-2B8C-45B9-919A-5A08E4101CA2}"/>
              </a:ext>
            </a:extLst>
          </p:cNvPr>
          <p:cNvSpPr>
            <a:spLocks noGrp="1"/>
          </p:cNvSpPr>
          <p:nvPr/>
        </p:nvSpPr>
        <p:spPr>
          <a:xfrm>
            <a:off x="552450" y="1638300"/>
            <a:ext cx="738187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>
                <a:solidFill>
                  <a:srgbClr val="B9C9D7"/>
                </a:solidFill>
              </a:defRPr>
            </a:pPr>
            <a:r>
              <a:rPr sz="1425">
                <a:solidFill>
                  <a:srgbClr val="B9C9D7"/>
                </a:solidFill>
              </a:rPr>
              <a:t>One locked card system combines the player, team and live performance data—then upgrades the finish as stars are earned.</a:t>
            </a:r>
          </a:p>
        </p:txBody>
      </p:sp>
      <p:sp>
        <p:nvSpPr>
          <p:cNvPr id="10" name="assembly-line">
            <a:extLst>
              <a:ext uri="{FF2B5EF4-FFF2-40B4-BE49-F238E27FC236}">
                <a16:creationId xmlns:a16="http://schemas.microsoft.com/office/drawing/2014/main" id="{30FC43D7-B3B8-40BC-A7D7-EFF799B9E493}"/>
              </a:ext>
            </a:extLst>
          </p:cNvPr>
          <p:cNvSpPr>
            <a:spLocks noGrp="1"/>
          </p:cNvSpPr>
          <p:nvPr/>
        </p:nvSpPr>
        <p:spPr>
          <a:xfrm>
            <a:off x="876300" y="4029075"/>
            <a:ext cx="6429375" cy="28575"/>
          </a:xfrm>
          <a:prstGeom prst="rect">
            <a:avLst/>
          </a:prstGeom>
          <a:solidFill>
            <a:srgbClr val="4DDCFF">
              <a:alpha val="4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plus-1">
            <a:extLst>
              <a:ext uri="{FF2B5EF4-FFF2-40B4-BE49-F238E27FC236}">
                <a16:creationId xmlns:a16="http://schemas.microsoft.com/office/drawing/2014/main" id="{3A0B21DD-A589-4079-BE7B-FB327E7E80F3}"/>
              </a:ext>
            </a:extLst>
          </p:cNvPr>
          <p:cNvSpPr>
            <a:spLocks noGrp="1"/>
          </p:cNvSpPr>
          <p:nvPr/>
        </p:nvSpPr>
        <p:spPr>
          <a:xfrm>
            <a:off x="2400300" y="3286125"/>
            <a:ext cx="381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54E3FF"/>
                </a:solidFill>
              </a:defRPr>
            </a:pPr>
            <a:r>
              <a:rPr sz="2550" b="1">
                <a:solidFill>
                  <a:srgbClr val="54E3FF"/>
                </a:solidFill>
              </a:rPr>
              <a:t>+</a:t>
            </a:r>
          </a:p>
        </p:txBody>
      </p:sp>
      <p:sp>
        <p:nvSpPr>
          <p:cNvPr id="12" name="plus-2">
            <a:extLst>
              <a:ext uri="{FF2B5EF4-FFF2-40B4-BE49-F238E27FC236}">
                <a16:creationId xmlns:a16="http://schemas.microsoft.com/office/drawing/2014/main" id="{EB71BBCC-638A-407A-86EA-F7C45D59EA03}"/>
              </a:ext>
            </a:extLst>
          </p:cNvPr>
          <p:cNvSpPr>
            <a:spLocks noGrp="1"/>
          </p:cNvSpPr>
          <p:nvPr/>
        </p:nvSpPr>
        <p:spPr>
          <a:xfrm>
            <a:off x="4000500" y="3000375"/>
            <a:ext cx="381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54E3FF"/>
                </a:solidFill>
              </a:defRPr>
            </a:pPr>
            <a:r>
              <a:rPr sz="2550" b="1">
                <a:solidFill>
                  <a:srgbClr val="54E3FF"/>
                </a:solidFill>
              </a:rPr>
              <a:t>+</a:t>
            </a:r>
          </a:p>
        </p:txBody>
      </p:sp>
      <p:sp>
        <p:nvSpPr>
          <p:cNvPr id="13" name="plus-3">
            <a:extLst>
              <a:ext uri="{FF2B5EF4-FFF2-40B4-BE49-F238E27FC236}">
                <a16:creationId xmlns:a16="http://schemas.microsoft.com/office/drawing/2014/main" id="{FD289879-08B6-4CB1-A4B2-E82E94044A39}"/>
              </a:ext>
            </a:extLst>
          </p:cNvPr>
          <p:cNvSpPr>
            <a:spLocks noGrp="1"/>
          </p:cNvSpPr>
          <p:nvPr/>
        </p:nvSpPr>
        <p:spPr>
          <a:xfrm>
            <a:off x="5600700" y="2714625"/>
            <a:ext cx="381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54E3FF"/>
                </a:solidFill>
              </a:defRPr>
            </a:pPr>
            <a:r>
              <a:rPr sz="2550" b="1">
                <a:solidFill>
                  <a:srgbClr val="54E3FF"/>
                </a:solidFill>
              </a:rPr>
              <a:t>+</a:t>
            </a:r>
          </a:p>
        </p:txBody>
      </p:sp>
      <p:sp>
        <p:nvSpPr>
          <p:cNvPr id="14" name="equals">
            <a:extLst>
              <a:ext uri="{FF2B5EF4-FFF2-40B4-BE49-F238E27FC236}">
                <a16:creationId xmlns:a16="http://schemas.microsoft.com/office/drawing/2014/main" id="{19DEE7E6-1EE3-412A-B3EA-6DD0F80D489F}"/>
              </a:ext>
            </a:extLst>
          </p:cNvPr>
          <p:cNvSpPr>
            <a:spLocks noGrp="1"/>
          </p:cNvSpPr>
          <p:nvPr/>
        </p:nvSpPr>
        <p:spPr>
          <a:xfrm>
            <a:off x="7962900" y="2676525"/>
            <a:ext cx="381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=</a:t>
            </a:r>
          </a:p>
        </p:txBody>
      </p:sp>
      <p:sp>
        <p:nvSpPr>
          <p:cNvPr id="15" name="layer-glow-1">
            <a:extLst>
              <a:ext uri="{FF2B5EF4-FFF2-40B4-BE49-F238E27FC236}">
                <a16:creationId xmlns:a16="http://schemas.microsoft.com/office/drawing/2014/main" id="{ABC3F9F3-A18A-48A5-A9A2-2D3F51301D82}"/>
              </a:ext>
            </a:extLst>
          </p:cNvPr>
          <p:cNvSpPr>
            <a:spLocks noGrp="1"/>
          </p:cNvSpPr>
          <p:nvPr/>
        </p:nvSpPr>
        <p:spPr>
          <a:xfrm>
            <a:off x="371475" y="2038350"/>
            <a:ext cx="2381250" cy="3143250"/>
          </a:xfrm>
          <a:prstGeom prst="ellipse">
            <a:avLst/>
          </a:prstGeom>
          <a:solidFill>
            <a:srgbClr val="23C2FF">
              <a:alpha val="12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7" name="Picture 6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66750" y="2266950"/>
            <a:ext cx="1809750" cy="2714625"/>
          </a:xfrm>
          <a:prstGeom prst="rect">
            <a:avLst/>
          </a:prstGeom>
        </p:spPr>
      </p:pic>
      <p:sp>
        <p:nvSpPr>
          <p:cNvPr id="17" name="layer-1">
            <a:extLst>
              <a:ext uri="{FF2B5EF4-FFF2-40B4-BE49-F238E27FC236}">
                <a16:creationId xmlns:a16="http://schemas.microsoft.com/office/drawing/2014/main" id="{AD0F3FBC-64DA-4689-A20B-27F492E15CDB}"/>
              </a:ext>
            </a:extLst>
          </p:cNvPr>
          <p:cNvSpPr>
            <a:spLocks noGrp="1"/>
          </p:cNvSpPr>
          <p:nvPr/>
        </p:nvSpPr>
        <p:spPr>
          <a:xfrm>
            <a:off x="676275" y="5038725"/>
            <a:ext cx="2000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 spc="1">
                <a:solidFill>
                  <a:srgbClr val="89E9FF"/>
                </a:solidFill>
              </a:defRPr>
            </a:pPr>
            <a:r>
              <a:rPr sz="1200" b="1" spc="1">
                <a:solidFill>
                  <a:srgbClr val="89E9FF"/>
                </a:solidFill>
              </a:rPr>
              <a:t>01  ENVIRONMENT</a:t>
            </a:r>
          </a:p>
        </p:txBody>
      </p:sp>
      <p:sp>
        <p:nvSpPr>
          <p:cNvPr id="18" name="number-plane">
            <a:extLst>
              <a:ext uri="{FF2B5EF4-FFF2-40B4-BE49-F238E27FC236}">
                <a16:creationId xmlns:a16="http://schemas.microsoft.com/office/drawing/2014/main" id="{6A81C187-B269-4B23-8ABC-6E236AD4B84B}"/>
              </a:ext>
            </a:extLst>
          </p:cNvPr>
          <p:cNvSpPr>
            <a:spLocks noGrp="1"/>
          </p:cNvSpPr>
          <p:nvPr/>
        </p:nvSpPr>
        <p:spPr>
          <a:xfrm>
            <a:off x="2714625" y="2343150"/>
            <a:ext cx="1695450" cy="2286000"/>
          </a:xfrm>
          <a:prstGeom prst="roundRect">
            <a:avLst>
              <a:gd name="adj" fmla="val 4494"/>
            </a:avLst>
          </a:prstGeom>
          <a:solidFill>
            <a:srgbClr val="05121D">
              <a:alpha val="88000"/>
            </a:srgbClr>
          </a:solidFill>
          <a:ln w="9525">
            <a:solidFill>
              <a:srgbClr val="3ACF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number">
            <a:extLst>
              <a:ext uri="{FF2B5EF4-FFF2-40B4-BE49-F238E27FC236}">
                <a16:creationId xmlns:a16="http://schemas.microsoft.com/office/drawing/2014/main" id="{4426C264-BD06-4039-8521-1AFEA7A96330}"/>
              </a:ext>
            </a:extLst>
          </p:cNvPr>
          <p:cNvSpPr>
            <a:spLocks noGrp="1"/>
          </p:cNvSpPr>
          <p:nvPr/>
        </p:nvSpPr>
        <p:spPr>
          <a:xfrm>
            <a:off x="2781300" y="2724150"/>
            <a:ext cx="1562100" cy="1181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0" b="1">
                <a:solidFill>
                  <a:srgbClr val="49D9FF"/>
                </a:solidFill>
              </a:defRPr>
            </a:pPr>
            <a:r>
              <a:rPr sz="7500" b="1">
                <a:solidFill>
                  <a:srgbClr val="49D9FF"/>
                </a:solidFill>
              </a:rPr>
              <a:t>22</a:t>
            </a:r>
          </a:p>
        </p:txBody>
      </p:sp>
      <p:sp>
        <p:nvSpPr>
          <p:cNvPr id="20" name="layer-2">
            <a:extLst>
              <a:ext uri="{FF2B5EF4-FFF2-40B4-BE49-F238E27FC236}">
                <a16:creationId xmlns:a16="http://schemas.microsoft.com/office/drawing/2014/main" id="{9BE7F9AB-7F25-4A3E-9D36-274C78AFCABD}"/>
              </a:ext>
            </a:extLst>
          </p:cNvPr>
          <p:cNvSpPr>
            <a:spLocks noGrp="1"/>
          </p:cNvSpPr>
          <p:nvPr/>
        </p:nvSpPr>
        <p:spPr>
          <a:xfrm>
            <a:off x="2724150" y="4705350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 spc="1">
                <a:solidFill>
                  <a:srgbClr val="89E9FF"/>
                </a:solidFill>
              </a:defRPr>
            </a:pPr>
            <a:r>
              <a:rPr sz="1200" b="1" spc="1">
                <a:solidFill>
                  <a:srgbClr val="89E9FF"/>
                </a:solidFill>
              </a:rPr>
              <a:t>02  PLAYER NUMBER</a:t>
            </a:r>
          </a:p>
        </p:txBody>
      </p:sp>
      <p:sp>
        <p:nvSpPr>
          <p:cNvPr id="21" name="layer-glow-3">
            <a:extLst>
              <a:ext uri="{FF2B5EF4-FFF2-40B4-BE49-F238E27FC236}">
                <a16:creationId xmlns:a16="http://schemas.microsoft.com/office/drawing/2014/main" id="{48DEDE85-3815-4951-A1A7-7A587A90DDE8}"/>
              </a:ext>
            </a:extLst>
          </p:cNvPr>
          <p:cNvSpPr>
            <a:spLocks noGrp="1"/>
          </p:cNvSpPr>
          <p:nvPr/>
        </p:nvSpPr>
        <p:spPr>
          <a:xfrm>
            <a:off x="4210050" y="2095500"/>
            <a:ext cx="2152650" cy="2428875"/>
          </a:xfrm>
          <a:prstGeom prst="ellipse">
            <a:avLst/>
          </a:prstGeom>
          <a:solidFill>
            <a:srgbClr val="23C2FF">
              <a:alpha val="18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3" name="Picture 72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410075" y="2432868"/>
            <a:ext cx="1809750" cy="1773189"/>
          </a:xfrm>
          <a:prstGeom prst="rect">
            <a:avLst/>
          </a:prstGeom>
        </p:spPr>
      </p:pic>
      <p:sp>
        <p:nvSpPr>
          <p:cNvPr id="23" name="layer-3">
            <a:extLst>
              <a:ext uri="{FF2B5EF4-FFF2-40B4-BE49-F238E27FC236}">
                <a16:creationId xmlns:a16="http://schemas.microsoft.com/office/drawing/2014/main" id="{9E234320-2050-4FFB-A32C-546CB0F65C93}"/>
              </a:ext>
            </a:extLst>
          </p:cNvPr>
          <p:cNvSpPr>
            <a:spLocks noGrp="1"/>
          </p:cNvSpPr>
          <p:nvPr/>
        </p:nvSpPr>
        <p:spPr>
          <a:xfrm>
            <a:off x="4333875" y="4552950"/>
            <a:ext cx="2000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 spc="1">
                <a:solidFill>
                  <a:srgbClr val="89E9FF"/>
                </a:solidFill>
              </a:defRPr>
            </a:pPr>
            <a:r>
              <a:rPr sz="1200" b="1" spc="1">
                <a:solidFill>
                  <a:srgbClr val="89E9FF"/>
                </a:solidFill>
              </a:rPr>
              <a:t>03  PLAYER CUTOUT</a:t>
            </a:r>
          </a:p>
        </p:txBody>
      </p:sp>
      <p:sp>
        <p:nvSpPr>
          <p:cNvPr id="24" name="data-plane">
            <a:extLst>
              <a:ext uri="{FF2B5EF4-FFF2-40B4-BE49-F238E27FC236}">
                <a16:creationId xmlns:a16="http://schemas.microsoft.com/office/drawing/2014/main" id="{2723D93D-A1E0-477B-A689-441FE882DDA3}"/>
              </a:ext>
            </a:extLst>
          </p:cNvPr>
          <p:cNvSpPr>
            <a:spLocks noGrp="1"/>
          </p:cNvSpPr>
          <p:nvPr/>
        </p:nvSpPr>
        <p:spPr>
          <a:xfrm>
            <a:off x="5981700" y="2200275"/>
            <a:ext cx="1809750" cy="2171700"/>
          </a:xfrm>
          <a:prstGeom prst="roundRect">
            <a:avLst>
              <a:gd name="adj" fmla="val 4211"/>
            </a:avLst>
          </a:prstGeom>
          <a:solidFill>
            <a:srgbClr val="05121D">
              <a:alpha val="90000"/>
            </a:srgbClr>
          </a:solidFill>
          <a:ln w="9525">
            <a:solidFill>
              <a:srgbClr val="3ACF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data-name">
            <a:extLst>
              <a:ext uri="{FF2B5EF4-FFF2-40B4-BE49-F238E27FC236}">
                <a16:creationId xmlns:a16="http://schemas.microsoft.com/office/drawing/2014/main" id="{30A65B96-769E-403A-B47E-13C0386CF921}"/>
              </a:ext>
            </a:extLst>
          </p:cNvPr>
          <p:cNvSpPr>
            <a:spLocks noGrp="1"/>
          </p:cNvSpPr>
          <p:nvPr/>
        </p:nvSpPr>
        <p:spPr>
          <a:xfrm>
            <a:off x="6134100" y="2466975"/>
            <a:ext cx="15049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CASON</a:t>
            </a:r>
          </a:p>
          <a:p>
            <a:pPr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WALLACE</a:t>
            </a:r>
          </a:p>
        </p:txBody>
      </p:sp>
      <p:sp>
        <p:nvSpPr>
          <p:cNvPr id="26" name="data-stats">
            <a:extLst>
              <a:ext uri="{FF2B5EF4-FFF2-40B4-BE49-F238E27FC236}">
                <a16:creationId xmlns:a16="http://schemas.microsoft.com/office/drawing/2014/main" id="{5B8D1FB1-E391-4C89-B162-5CBEBB41A084}"/>
              </a:ext>
            </a:extLst>
          </p:cNvPr>
          <p:cNvSpPr>
            <a:spLocks noGrp="1"/>
          </p:cNvSpPr>
          <p:nvPr/>
        </p:nvSpPr>
        <p:spPr>
          <a:xfrm>
            <a:off x="6134100" y="3400425"/>
            <a:ext cx="15049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62E4FF"/>
                </a:solidFill>
              </a:defRPr>
            </a:pPr>
            <a:r>
              <a:rPr sz="1350" b="1">
                <a:solidFill>
                  <a:srgbClr val="62E4FF"/>
                </a:solidFill>
              </a:rPr>
              <a:t>525  •  #1 OF 7</a:t>
            </a:r>
          </a:p>
          <a:p>
            <a:pPr>
              <a:defRPr sz="1350" b="1">
                <a:solidFill>
                  <a:srgbClr val="62E4FF"/>
                </a:solidFill>
              </a:defRPr>
            </a:pPr>
            <a:r>
              <a:rPr sz="1350" b="1">
                <a:solidFill>
                  <a:srgbClr val="62E4FF"/>
                </a:solidFill>
              </a:rPr>
              <a:t>★★★★  PROSPECT</a:t>
            </a:r>
          </a:p>
        </p:txBody>
      </p:sp>
      <p:sp>
        <p:nvSpPr>
          <p:cNvPr id="27" name="layer-4">
            <a:extLst>
              <a:ext uri="{FF2B5EF4-FFF2-40B4-BE49-F238E27FC236}">
                <a16:creationId xmlns:a16="http://schemas.microsoft.com/office/drawing/2014/main" id="{F2976406-1878-4B3C-B89A-DF791117DF1A}"/>
              </a:ext>
            </a:extLst>
          </p:cNvPr>
          <p:cNvSpPr>
            <a:spLocks noGrp="1"/>
          </p:cNvSpPr>
          <p:nvPr/>
        </p:nvSpPr>
        <p:spPr>
          <a:xfrm>
            <a:off x="5991225" y="4448175"/>
            <a:ext cx="1809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 spc="1">
                <a:solidFill>
                  <a:srgbClr val="89E9FF"/>
                </a:solidFill>
              </a:defRPr>
            </a:pPr>
            <a:r>
              <a:rPr sz="1200" b="1" spc="1">
                <a:solidFill>
                  <a:srgbClr val="89E9FF"/>
                </a:solidFill>
              </a:rPr>
              <a:t>04  LIVE DATA</a:t>
            </a:r>
          </a:p>
        </p:txBody>
      </p:sp>
      <p:sp>
        <p:nvSpPr>
          <p:cNvPr id="28" name="hero-label">
            <a:extLst>
              <a:ext uri="{FF2B5EF4-FFF2-40B4-BE49-F238E27FC236}">
                <a16:creationId xmlns:a16="http://schemas.microsoft.com/office/drawing/2014/main" id="{06C4F4C3-501C-4682-8456-79B503BA0DAA}"/>
              </a:ext>
            </a:extLst>
          </p:cNvPr>
          <p:cNvSpPr>
            <a:spLocks noGrp="1"/>
          </p:cNvSpPr>
          <p:nvPr/>
        </p:nvSpPr>
        <p:spPr>
          <a:xfrm>
            <a:off x="8343900" y="695325"/>
            <a:ext cx="3143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 spc="1">
                <a:solidFill>
                  <a:srgbClr val="8DEAFF"/>
                </a:solidFill>
              </a:defRPr>
            </a:pPr>
            <a:r>
              <a:rPr sz="1500" b="1" spc="1">
                <a:solidFill>
                  <a:srgbClr val="8DEAFF"/>
                </a:solidFill>
              </a:rPr>
              <a:t>FULLY ASSEMBLED</a:t>
            </a:r>
          </a:p>
        </p:txBody>
      </p:sp>
      <p:sp>
        <p:nvSpPr>
          <p:cNvPr id="29" name="final-glow">
            <a:extLst>
              <a:ext uri="{FF2B5EF4-FFF2-40B4-BE49-F238E27FC236}">
                <a16:creationId xmlns:a16="http://schemas.microsoft.com/office/drawing/2014/main" id="{8997A68E-B7A5-43E8-BE3E-EA056BE61195}"/>
              </a:ext>
            </a:extLst>
          </p:cNvPr>
          <p:cNvSpPr>
            <a:spLocks noGrp="1"/>
          </p:cNvSpPr>
          <p:nvPr/>
        </p:nvSpPr>
        <p:spPr>
          <a:xfrm>
            <a:off x="7762875" y="790575"/>
            <a:ext cx="4095750" cy="4857750"/>
          </a:xfrm>
          <a:prstGeom prst="ellipse">
            <a:avLst/>
          </a:prstGeom>
          <a:solidFill>
            <a:srgbClr val="25CBFF">
              <a:alpha val="18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1" name="Picture 80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8572500" y="990600"/>
            <a:ext cx="2686050" cy="4029075"/>
          </a:xfrm>
          <a:prstGeom prst="rect">
            <a:avLst/>
          </a:prstGeom>
        </p:spPr>
      </p:pic>
      <p:sp>
        <p:nvSpPr>
          <p:cNvPr id="31" name="progression-rail">
            <a:extLst>
              <a:ext uri="{FF2B5EF4-FFF2-40B4-BE49-F238E27FC236}">
                <a16:creationId xmlns:a16="http://schemas.microsoft.com/office/drawing/2014/main" id="{D8119DE9-9E11-4B34-8AD0-1B9DE8F22A3F}"/>
              </a:ext>
            </a:extLst>
          </p:cNvPr>
          <p:cNvSpPr>
            <a:spLocks noGrp="1"/>
          </p:cNvSpPr>
          <p:nvPr/>
        </p:nvSpPr>
        <p:spPr>
          <a:xfrm>
            <a:off x="523875" y="5543550"/>
            <a:ext cx="11144250" cy="990600"/>
          </a:xfrm>
          <a:prstGeom prst="roundRect">
            <a:avLst>
              <a:gd name="adj" fmla="val 11538"/>
            </a:avLst>
          </a:prstGeom>
          <a:solidFill>
            <a:srgbClr val="030B13">
              <a:alpha val="88000"/>
            </a:srgbClr>
          </a:solidFill>
          <a:ln w="9525">
            <a:solidFill>
              <a:srgbClr val="5BDAFF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progression-label">
            <a:extLst>
              <a:ext uri="{FF2B5EF4-FFF2-40B4-BE49-F238E27FC236}">
                <a16:creationId xmlns:a16="http://schemas.microsoft.com/office/drawing/2014/main" id="{7F7DD9A4-3734-4C34-8121-F645EC2DBB74}"/>
              </a:ext>
            </a:extLst>
          </p:cNvPr>
          <p:cNvSpPr>
            <a:spLocks noGrp="1"/>
          </p:cNvSpPr>
          <p:nvPr/>
        </p:nvSpPr>
        <p:spPr>
          <a:xfrm>
            <a:off x="742950" y="5676900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 spc="1">
                <a:solidFill>
                  <a:srgbClr val="7FE8FF"/>
                </a:solidFill>
              </a:defRPr>
            </a:pPr>
            <a:r>
              <a:rPr sz="1200" b="1" spc="1">
                <a:solidFill>
                  <a:srgbClr val="7FE8FF"/>
                </a:solidFill>
              </a:rPr>
              <a:t>PROSPECT LEVELS</a:t>
            </a:r>
          </a:p>
        </p:txBody>
      </p:sp>
      <p:sp>
        <p:nvSpPr>
          <p:cNvPr id="33" name="stars-0">
            <a:extLst>
              <a:ext uri="{FF2B5EF4-FFF2-40B4-BE49-F238E27FC236}">
                <a16:creationId xmlns:a16="http://schemas.microsoft.com/office/drawing/2014/main" id="{4EE5AF04-A47E-4AC5-85C9-CBBA4521C802}"/>
              </a:ext>
            </a:extLst>
          </p:cNvPr>
          <p:cNvSpPr>
            <a:spLocks noGrp="1"/>
          </p:cNvSpPr>
          <p:nvPr/>
        </p:nvSpPr>
        <p:spPr>
          <a:xfrm>
            <a:off x="2647950" y="5705475"/>
            <a:ext cx="14763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E2A363"/>
                </a:solidFill>
              </a:defRPr>
            </a:pPr>
            <a:r>
              <a:rPr sz="1800" b="1">
                <a:solidFill>
                  <a:srgbClr val="E2A363"/>
                </a:solidFill>
              </a:rPr>
              <a:t>1★</a:t>
            </a:r>
          </a:p>
        </p:txBody>
      </p:sp>
      <p:sp>
        <p:nvSpPr>
          <p:cNvPr id="34" name="prospect-0">
            <a:extLst>
              <a:ext uri="{FF2B5EF4-FFF2-40B4-BE49-F238E27FC236}">
                <a16:creationId xmlns:a16="http://schemas.microsoft.com/office/drawing/2014/main" id="{1403746E-2D3C-4B7B-BFFD-5AE3C5A60ACA}"/>
              </a:ext>
            </a:extLst>
          </p:cNvPr>
          <p:cNvSpPr>
            <a:spLocks noGrp="1"/>
          </p:cNvSpPr>
          <p:nvPr/>
        </p:nvSpPr>
        <p:spPr>
          <a:xfrm>
            <a:off x="2647950" y="5981700"/>
            <a:ext cx="14763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 spc="1">
                <a:solidFill>
                  <a:srgbClr val="F4F8FC"/>
                </a:solidFill>
              </a:defRPr>
            </a:pPr>
            <a:r>
              <a:rPr sz="1275" b="1" spc="1">
                <a:solidFill>
                  <a:srgbClr val="F4F8FC"/>
                </a:solidFill>
              </a:rPr>
              <a:t>PROSPECT</a:t>
            </a:r>
          </a:p>
        </p:txBody>
      </p:sp>
      <p:sp>
        <p:nvSpPr>
          <p:cNvPr id="35" name="finish-0">
            <a:extLst>
              <a:ext uri="{FF2B5EF4-FFF2-40B4-BE49-F238E27FC236}">
                <a16:creationId xmlns:a16="http://schemas.microsoft.com/office/drawing/2014/main" id="{46C3B3D8-2DA2-4698-95A0-21966E8D7C11}"/>
              </a:ext>
            </a:extLst>
          </p:cNvPr>
          <p:cNvSpPr>
            <a:spLocks noGrp="1"/>
          </p:cNvSpPr>
          <p:nvPr/>
        </p:nvSpPr>
        <p:spPr>
          <a:xfrm>
            <a:off x="2647950" y="6200775"/>
            <a:ext cx="14763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 b="1" spc="1">
                <a:solidFill>
                  <a:srgbClr val="8EA2B4"/>
                </a:solidFill>
              </a:defRPr>
            </a:pPr>
            <a:r>
              <a:rPr sz="825" b="1" spc="1">
                <a:solidFill>
                  <a:srgbClr val="8EA2B4"/>
                </a:solidFill>
              </a:rPr>
              <a:t>BRONZE FINISH</a:t>
            </a:r>
          </a:p>
        </p:txBody>
      </p:sp>
      <p:sp>
        <p:nvSpPr>
          <p:cNvPr id="36" name="divider-1">
            <a:extLst>
              <a:ext uri="{FF2B5EF4-FFF2-40B4-BE49-F238E27FC236}">
                <a16:creationId xmlns:a16="http://schemas.microsoft.com/office/drawing/2014/main" id="{7BDECB44-6E6A-4BA7-AB29-FB647432879F}"/>
              </a:ext>
            </a:extLst>
          </p:cNvPr>
          <p:cNvSpPr>
            <a:spLocks noGrp="1"/>
          </p:cNvSpPr>
          <p:nvPr/>
        </p:nvSpPr>
        <p:spPr>
          <a:xfrm>
            <a:off x="4219575" y="5772150"/>
            <a:ext cx="9525" cy="533400"/>
          </a:xfrm>
          <a:prstGeom prst="rect">
            <a:avLst/>
          </a:prstGeom>
          <a:solidFill>
            <a:srgbClr val="78AAC3">
              <a:alpha val="3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tars-1">
            <a:extLst>
              <a:ext uri="{FF2B5EF4-FFF2-40B4-BE49-F238E27FC236}">
                <a16:creationId xmlns:a16="http://schemas.microsoft.com/office/drawing/2014/main" id="{89F2663B-1747-4721-943D-5E7D7A34848F}"/>
              </a:ext>
            </a:extLst>
          </p:cNvPr>
          <p:cNvSpPr>
            <a:spLocks noGrp="1"/>
          </p:cNvSpPr>
          <p:nvPr/>
        </p:nvSpPr>
        <p:spPr>
          <a:xfrm>
            <a:off x="4391025" y="5705475"/>
            <a:ext cx="14763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DFE6EE"/>
                </a:solidFill>
              </a:defRPr>
            </a:pPr>
            <a:r>
              <a:rPr sz="1800" b="1">
                <a:solidFill>
                  <a:srgbClr val="DFE6EE"/>
                </a:solidFill>
              </a:rPr>
              <a:t>2★</a:t>
            </a:r>
          </a:p>
        </p:txBody>
      </p:sp>
      <p:sp>
        <p:nvSpPr>
          <p:cNvPr id="38" name="prospect-1">
            <a:extLst>
              <a:ext uri="{FF2B5EF4-FFF2-40B4-BE49-F238E27FC236}">
                <a16:creationId xmlns:a16="http://schemas.microsoft.com/office/drawing/2014/main" id="{200C0BFB-0100-4842-AA83-25889664B3FA}"/>
              </a:ext>
            </a:extLst>
          </p:cNvPr>
          <p:cNvSpPr>
            <a:spLocks noGrp="1"/>
          </p:cNvSpPr>
          <p:nvPr/>
        </p:nvSpPr>
        <p:spPr>
          <a:xfrm>
            <a:off x="4391025" y="5981700"/>
            <a:ext cx="14763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 spc="1">
                <a:solidFill>
                  <a:srgbClr val="F4F8FC"/>
                </a:solidFill>
              </a:defRPr>
            </a:pPr>
            <a:r>
              <a:rPr sz="1275" b="1" spc="1">
                <a:solidFill>
                  <a:srgbClr val="F4F8FC"/>
                </a:solidFill>
              </a:rPr>
              <a:t>PROSPECT</a:t>
            </a:r>
          </a:p>
        </p:txBody>
      </p:sp>
      <p:sp>
        <p:nvSpPr>
          <p:cNvPr id="39" name="finish-1">
            <a:extLst>
              <a:ext uri="{FF2B5EF4-FFF2-40B4-BE49-F238E27FC236}">
                <a16:creationId xmlns:a16="http://schemas.microsoft.com/office/drawing/2014/main" id="{6AB57F89-BED8-4613-95B6-ACDF3073CFD5}"/>
              </a:ext>
            </a:extLst>
          </p:cNvPr>
          <p:cNvSpPr>
            <a:spLocks noGrp="1"/>
          </p:cNvSpPr>
          <p:nvPr/>
        </p:nvSpPr>
        <p:spPr>
          <a:xfrm>
            <a:off x="4391025" y="6200775"/>
            <a:ext cx="14763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 b="1" spc="1">
                <a:solidFill>
                  <a:srgbClr val="8EA2B4"/>
                </a:solidFill>
              </a:defRPr>
            </a:pPr>
            <a:r>
              <a:rPr sz="825" b="1" spc="1">
                <a:solidFill>
                  <a:srgbClr val="8EA2B4"/>
                </a:solidFill>
              </a:rPr>
              <a:t>SILVER FINISH</a:t>
            </a:r>
          </a:p>
        </p:txBody>
      </p:sp>
      <p:sp>
        <p:nvSpPr>
          <p:cNvPr id="40" name="divider-2">
            <a:extLst>
              <a:ext uri="{FF2B5EF4-FFF2-40B4-BE49-F238E27FC236}">
                <a16:creationId xmlns:a16="http://schemas.microsoft.com/office/drawing/2014/main" id="{155128FB-58DD-4603-8F99-DDEAD514CAD2}"/>
              </a:ext>
            </a:extLst>
          </p:cNvPr>
          <p:cNvSpPr>
            <a:spLocks noGrp="1"/>
          </p:cNvSpPr>
          <p:nvPr/>
        </p:nvSpPr>
        <p:spPr>
          <a:xfrm>
            <a:off x="5962650" y="5772150"/>
            <a:ext cx="9525" cy="533400"/>
          </a:xfrm>
          <a:prstGeom prst="rect">
            <a:avLst/>
          </a:prstGeom>
          <a:solidFill>
            <a:srgbClr val="78AAC3">
              <a:alpha val="3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tars-2">
            <a:extLst>
              <a:ext uri="{FF2B5EF4-FFF2-40B4-BE49-F238E27FC236}">
                <a16:creationId xmlns:a16="http://schemas.microsoft.com/office/drawing/2014/main" id="{B363370F-3880-49A7-91B3-971B4F5F40B9}"/>
              </a:ext>
            </a:extLst>
          </p:cNvPr>
          <p:cNvSpPr>
            <a:spLocks noGrp="1"/>
          </p:cNvSpPr>
          <p:nvPr/>
        </p:nvSpPr>
        <p:spPr>
          <a:xfrm>
            <a:off x="6134100" y="5705475"/>
            <a:ext cx="14763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FFE388"/>
                </a:solidFill>
              </a:defRPr>
            </a:pPr>
            <a:r>
              <a:rPr sz="1800" b="1">
                <a:solidFill>
                  <a:srgbClr val="FFE388"/>
                </a:solidFill>
              </a:rPr>
              <a:t>3★</a:t>
            </a:r>
          </a:p>
        </p:txBody>
      </p:sp>
      <p:sp>
        <p:nvSpPr>
          <p:cNvPr id="42" name="prospect-2">
            <a:extLst>
              <a:ext uri="{FF2B5EF4-FFF2-40B4-BE49-F238E27FC236}">
                <a16:creationId xmlns:a16="http://schemas.microsoft.com/office/drawing/2014/main" id="{42061B9C-8BA5-4950-BA80-47781850CC83}"/>
              </a:ext>
            </a:extLst>
          </p:cNvPr>
          <p:cNvSpPr>
            <a:spLocks noGrp="1"/>
          </p:cNvSpPr>
          <p:nvPr/>
        </p:nvSpPr>
        <p:spPr>
          <a:xfrm>
            <a:off x="6134100" y="5981700"/>
            <a:ext cx="14763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 spc="1">
                <a:solidFill>
                  <a:srgbClr val="F4F8FC"/>
                </a:solidFill>
              </a:defRPr>
            </a:pPr>
            <a:r>
              <a:rPr sz="1275" b="1" spc="1">
                <a:solidFill>
                  <a:srgbClr val="F4F8FC"/>
                </a:solidFill>
              </a:rPr>
              <a:t>PROSPECT</a:t>
            </a:r>
          </a:p>
        </p:txBody>
      </p:sp>
      <p:sp>
        <p:nvSpPr>
          <p:cNvPr id="43" name="finish-2">
            <a:extLst>
              <a:ext uri="{FF2B5EF4-FFF2-40B4-BE49-F238E27FC236}">
                <a16:creationId xmlns:a16="http://schemas.microsoft.com/office/drawing/2014/main" id="{D9339A8A-ABD9-49B9-94CC-3C80A0199213}"/>
              </a:ext>
            </a:extLst>
          </p:cNvPr>
          <p:cNvSpPr>
            <a:spLocks noGrp="1"/>
          </p:cNvSpPr>
          <p:nvPr/>
        </p:nvSpPr>
        <p:spPr>
          <a:xfrm>
            <a:off x="6134100" y="6200775"/>
            <a:ext cx="14763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 b="1" spc="1">
                <a:solidFill>
                  <a:srgbClr val="8EA2B4"/>
                </a:solidFill>
              </a:defRPr>
            </a:pPr>
            <a:r>
              <a:rPr sz="825" b="1" spc="1">
                <a:solidFill>
                  <a:srgbClr val="8EA2B4"/>
                </a:solidFill>
              </a:rPr>
              <a:t>GOLD FINISH</a:t>
            </a:r>
          </a:p>
        </p:txBody>
      </p:sp>
      <p:sp>
        <p:nvSpPr>
          <p:cNvPr id="44" name="divider-3">
            <a:extLst>
              <a:ext uri="{FF2B5EF4-FFF2-40B4-BE49-F238E27FC236}">
                <a16:creationId xmlns:a16="http://schemas.microsoft.com/office/drawing/2014/main" id="{C14ED3BA-9082-4972-8CA9-7A1B527CEF18}"/>
              </a:ext>
            </a:extLst>
          </p:cNvPr>
          <p:cNvSpPr>
            <a:spLocks noGrp="1"/>
          </p:cNvSpPr>
          <p:nvPr/>
        </p:nvSpPr>
        <p:spPr>
          <a:xfrm>
            <a:off x="7705725" y="5772150"/>
            <a:ext cx="9525" cy="533400"/>
          </a:xfrm>
          <a:prstGeom prst="rect">
            <a:avLst/>
          </a:prstGeom>
          <a:solidFill>
            <a:srgbClr val="78AAC3">
              <a:alpha val="3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tars-3">
            <a:extLst>
              <a:ext uri="{FF2B5EF4-FFF2-40B4-BE49-F238E27FC236}">
                <a16:creationId xmlns:a16="http://schemas.microsoft.com/office/drawing/2014/main" id="{45896D0B-ACE2-4813-B70F-0E81CAFE8C77}"/>
              </a:ext>
            </a:extLst>
          </p:cNvPr>
          <p:cNvSpPr>
            <a:spLocks noGrp="1"/>
          </p:cNvSpPr>
          <p:nvPr/>
        </p:nvSpPr>
        <p:spPr>
          <a:xfrm>
            <a:off x="7877175" y="5705475"/>
            <a:ext cx="14763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A7EEFF"/>
                </a:solidFill>
              </a:defRPr>
            </a:pPr>
            <a:r>
              <a:rPr sz="1800" b="1">
                <a:solidFill>
                  <a:srgbClr val="A7EEFF"/>
                </a:solidFill>
              </a:rPr>
              <a:t>4★</a:t>
            </a:r>
          </a:p>
        </p:txBody>
      </p:sp>
      <p:sp>
        <p:nvSpPr>
          <p:cNvPr id="46" name="prospect-3">
            <a:extLst>
              <a:ext uri="{FF2B5EF4-FFF2-40B4-BE49-F238E27FC236}">
                <a16:creationId xmlns:a16="http://schemas.microsoft.com/office/drawing/2014/main" id="{CB30426D-1910-4C0E-9449-8A4C901EF4DC}"/>
              </a:ext>
            </a:extLst>
          </p:cNvPr>
          <p:cNvSpPr>
            <a:spLocks noGrp="1"/>
          </p:cNvSpPr>
          <p:nvPr/>
        </p:nvSpPr>
        <p:spPr>
          <a:xfrm>
            <a:off x="7877175" y="5981700"/>
            <a:ext cx="14763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 spc="1">
                <a:solidFill>
                  <a:srgbClr val="F4F8FC"/>
                </a:solidFill>
              </a:defRPr>
            </a:pPr>
            <a:r>
              <a:rPr sz="1275" b="1" spc="1">
                <a:solidFill>
                  <a:srgbClr val="F4F8FC"/>
                </a:solidFill>
              </a:rPr>
              <a:t>PROSPECT</a:t>
            </a:r>
          </a:p>
        </p:txBody>
      </p:sp>
      <p:sp>
        <p:nvSpPr>
          <p:cNvPr id="47" name="finish-3">
            <a:extLst>
              <a:ext uri="{FF2B5EF4-FFF2-40B4-BE49-F238E27FC236}">
                <a16:creationId xmlns:a16="http://schemas.microsoft.com/office/drawing/2014/main" id="{923B053D-C767-444C-A498-66183448C454}"/>
              </a:ext>
            </a:extLst>
          </p:cNvPr>
          <p:cNvSpPr>
            <a:spLocks noGrp="1"/>
          </p:cNvSpPr>
          <p:nvPr/>
        </p:nvSpPr>
        <p:spPr>
          <a:xfrm>
            <a:off x="7877175" y="6200775"/>
            <a:ext cx="14763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 b="1" spc="1">
                <a:solidFill>
                  <a:srgbClr val="8EA2B4"/>
                </a:solidFill>
              </a:defRPr>
            </a:pPr>
            <a:r>
              <a:rPr sz="825" b="1" spc="1">
                <a:solidFill>
                  <a:srgbClr val="8EA2B4"/>
                </a:solidFill>
              </a:rPr>
              <a:t>PLATINUM FINISH</a:t>
            </a:r>
          </a:p>
        </p:txBody>
      </p:sp>
      <p:sp>
        <p:nvSpPr>
          <p:cNvPr id="48" name="divider-4">
            <a:extLst>
              <a:ext uri="{FF2B5EF4-FFF2-40B4-BE49-F238E27FC236}">
                <a16:creationId xmlns:a16="http://schemas.microsoft.com/office/drawing/2014/main" id="{BD3B3D09-AFA7-4E23-BA37-BC57D255B9B8}"/>
              </a:ext>
            </a:extLst>
          </p:cNvPr>
          <p:cNvSpPr>
            <a:spLocks noGrp="1"/>
          </p:cNvSpPr>
          <p:nvPr/>
        </p:nvSpPr>
        <p:spPr>
          <a:xfrm>
            <a:off x="9448800" y="5772150"/>
            <a:ext cx="9525" cy="533400"/>
          </a:xfrm>
          <a:prstGeom prst="rect">
            <a:avLst/>
          </a:prstGeom>
          <a:solidFill>
            <a:srgbClr val="78AAC3">
              <a:alpha val="3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tars-4">
            <a:extLst>
              <a:ext uri="{FF2B5EF4-FFF2-40B4-BE49-F238E27FC236}">
                <a16:creationId xmlns:a16="http://schemas.microsoft.com/office/drawing/2014/main" id="{1B8DD2F4-91D4-4532-8EB5-713A7C2328DA}"/>
              </a:ext>
            </a:extLst>
          </p:cNvPr>
          <p:cNvSpPr>
            <a:spLocks noGrp="1"/>
          </p:cNvSpPr>
          <p:nvPr/>
        </p:nvSpPr>
        <p:spPr>
          <a:xfrm>
            <a:off x="9620250" y="5705475"/>
            <a:ext cx="14763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5★</a:t>
            </a:r>
          </a:p>
        </p:txBody>
      </p:sp>
      <p:sp>
        <p:nvSpPr>
          <p:cNvPr id="50" name="prospect-4">
            <a:extLst>
              <a:ext uri="{FF2B5EF4-FFF2-40B4-BE49-F238E27FC236}">
                <a16:creationId xmlns:a16="http://schemas.microsoft.com/office/drawing/2014/main" id="{50F97A51-C111-4DD7-BF49-CA47C6A24528}"/>
              </a:ext>
            </a:extLst>
          </p:cNvPr>
          <p:cNvSpPr>
            <a:spLocks noGrp="1"/>
          </p:cNvSpPr>
          <p:nvPr/>
        </p:nvSpPr>
        <p:spPr>
          <a:xfrm>
            <a:off x="9620250" y="5981700"/>
            <a:ext cx="14763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 spc="1">
                <a:solidFill>
                  <a:srgbClr val="F4F8FC"/>
                </a:solidFill>
              </a:defRPr>
            </a:pPr>
            <a:r>
              <a:rPr sz="1275" b="1" spc="1">
                <a:solidFill>
                  <a:srgbClr val="F4F8FC"/>
                </a:solidFill>
              </a:rPr>
              <a:t>PROSPECT</a:t>
            </a:r>
          </a:p>
        </p:txBody>
      </p:sp>
      <p:sp>
        <p:nvSpPr>
          <p:cNvPr id="51" name="finish-4">
            <a:extLst>
              <a:ext uri="{FF2B5EF4-FFF2-40B4-BE49-F238E27FC236}">
                <a16:creationId xmlns:a16="http://schemas.microsoft.com/office/drawing/2014/main" id="{7B93CD53-34B4-4BF5-B663-6956D0212624}"/>
              </a:ext>
            </a:extLst>
          </p:cNvPr>
          <p:cNvSpPr>
            <a:spLocks noGrp="1"/>
          </p:cNvSpPr>
          <p:nvPr/>
        </p:nvSpPr>
        <p:spPr>
          <a:xfrm>
            <a:off x="9620250" y="6200775"/>
            <a:ext cx="14763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 b="1" spc="1">
                <a:solidFill>
                  <a:srgbClr val="8EA2B4"/>
                </a:solidFill>
              </a:defRPr>
            </a:pPr>
            <a:r>
              <a:rPr sz="825" b="1" spc="1">
                <a:solidFill>
                  <a:srgbClr val="8EA2B4"/>
                </a:solidFill>
              </a:rPr>
              <a:t>DIAMOND FINISH</a:t>
            </a:r>
          </a:p>
        </p:txBody>
      </p:sp>
    </p:spTree>
    <p:extLst>
      <p:ext uri="{BB962C8B-B14F-4D97-AF65-F5344CB8AC3E}">
        <p14:creationId xmlns:p14="http://schemas.microsoft.com/office/powerpoint/2010/main" val="34988749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351</Words>
  <Application>Microsoft Office PowerPoint</Application>
  <DocSecurity>0</DocSecurity>
  <PresentationFormat>Widescreen</PresentationFormat>
  <Paragraphs>63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4" baseType="lpstr">
      <vt:lpstr>Calibri</vt:lpstr>
      <vt:lpstr>ChatGPT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Bobby Greeson</cp:lastModifiedBy>
  <cp:revision>1</cp:revision>
  <dcterms:created xsi:type="dcterms:W3CDTF">2026-08-26T02:43:44Z</dcterms:created>
  <dcterms:modified xsi:type="dcterms:W3CDTF">2026-08-26T02:52:49Z</dcterms:modified>
</cp:coreProperties>
</file>